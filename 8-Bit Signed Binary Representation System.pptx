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4x3"/>
  <p:notesSz cx="6858000" cy="9144000"/>
  <p:embeddedFontLs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29126"/>
            <a:ext cx="10668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29126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7548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DIGITAL ELECTRONICS • SIGNED INTEGERS • LOGIC GATES • SIMULATION</a:t>
            </a:r>
            <a:endParaRPr sz="105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29850" y="609600"/>
            <a:ext cx="1500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Presentation Deck</a:t>
            </a:r>
            <a:endParaRPr sz="1050" b="1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964977"/>
            <a:ext cx="9101137" cy="1708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 i="0" u="none">
                <a:solidFill>
                  <a:srgbClr val="F8FAFC"/>
                </a:solidFill>
                <a:latin typeface="Inter"/>
              </a:rPr>
              <a:t>Design &amp; Simulation of an 8-Bit Signed Binary Representation System</a:t>
            </a:r>
            <a:endParaRPr sz="39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864173"/>
            <a:ext cx="7715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Modeling signed integer conversion using the Sign-Magnitude Method and verifying logic subsystem performance.</a:t>
            </a:r>
            <a:endParaRPr sz="15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5867251"/>
            <a:ext cx="471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SPECIFICATION</a:t>
            </a:r>
            <a:endParaRPr sz="975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6057751"/>
            <a:ext cx="4714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Inter"/>
              </a:rPr>
              <a:t>1 Sign Bit + 7 Magnitude Bits  |  Range: −127 to +127</a:t>
            </a:r>
            <a:endParaRPr sz="1200" b="0" i="0" u="none">
              <a:solidFill>
                <a:srgbClr val="F1F5F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1725" y="5943451"/>
            <a:ext cx="1371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1F5F9"/>
                </a:solidFill>
                <a:latin typeface="Inter"/>
              </a:rPr>
              <a:t>CH SHARON KUMAR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2620030035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62875" y="5943451"/>
            <a:ext cx="1238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1F5F9"/>
                </a:solidFill>
                <a:latin typeface="Inter"/>
              </a:rPr>
              <a:t>K AKSHITH REDDY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2620030202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10675" y="5943451"/>
            <a:ext cx="1247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1F5F9"/>
                </a:solidFill>
                <a:latin typeface="Inter"/>
              </a:rPr>
              <a:t>D GURU VARDHAN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2620030514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68000" y="5943451"/>
            <a:ext cx="857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1F5F9"/>
                </a:solidFill>
                <a:latin typeface="Inter"/>
              </a:rPr>
              <a:t>SYED IRFAN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2620030054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95550"/>
            <a:ext cx="3352800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609850"/>
            <a:ext cx="33528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09850"/>
            <a:ext cx="33528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8098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5" y="29241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5" y="29241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387" y="2943225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305752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75" y="305752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01. Introduction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2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Project Overview &amp; Specifications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6325" y="3457575"/>
            <a:ext cx="29603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Signed Binary Representation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6325" y="4010025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Essential for digital systems to differentiate positive and negative numerical quantities accurately.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33925" y="3571875"/>
            <a:ext cx="357544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Sign-Magnitude Standard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33925" y="3895725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most significant bit (MSB) indicates polarity, while remaining bits store absolute magnitude.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1525" y="3571875"/>
            <a:ext cx="357544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Simulation &amp; Validation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91525" y="3895725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Fully modeled using logic gate subsystems for functional encoding and visual verification.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133600"/>
            <a:ext cx="5419725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58567"/>
            <a:ext cx="4791075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447925"/>
            <a:ext cx="4791075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3495675"/>
            <a:ext cx="4791075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600" y="4543425"/>
            <a:ext cx="4791075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258567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2987" y="3152775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2987" y="4200525"/>
            <a:ext cx="1143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02. Problem Statement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3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The Challenge in Digital Computing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2504182"/>
            <a:ext cx="628828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Core Problem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2932807"/>
            <a:ext cx="48863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Digital circuits naturally operate on unsigned binary signals. Implementing negative integers requires a dedicated architectural method to encode sign metadata alongside numerical magnitude without loss of precision.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0600" y="4449067"/>
            <a:ext cx="4467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Goal: Establish a robust encoding scheme using logic gates to separate and process polarity indicators.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2725" y="2609850"/>
            <a:ext cx="1143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Input Stage</a:t>
            </a:r>
            <a:endParaRPr sz="12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20225" y="2624137"/>
            <a:ext cx="1821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Signed Decimal Integer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62725" y="3657600"/>
            <a:ext cx="1123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Processing</a:t>
            </a:r>
            <a:endParaRPr sz="12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25000" y="3671887"/>
            <a:ext cx="1690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8-Bit Sign-Magnitude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2725" y="4705350"/>
            <a:ext cx="1266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Output Stage</a:t>
            </a:r>
            <a:endParaRPr sz="12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15450" y="4719637"/>
            <a:ext cx="1952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Validated Output Display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00300"/>
            <a:ext cx="52197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400300"/>
            <a:ext cx="52197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867150"/>
            <a:ext cx="52197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867150"/>
            <a:ext cx="52197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03. Objectives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4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Key Goals of the Design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8225" y="2676525"/>
            <a:ext cx="5810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01</a:t>
            </a:r>
            <a:endParaRPr sz="21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86525" y="2676525"/>
            <a:ext cx="638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02</a:t>
            </a:r>
            <a:endParaRPr sz="21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8225" y="4143375"/>
            <a:ext cx="638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03</a:t>
            </a:r>
            <a:endParaRPr sz="21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6525" y="4143375"/>
            <a:ext cx="647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284C7"/>
                </a:solidFill>
                <a:latin typeface="Inter"/>
              </a:rPr>
              <a:t>04</a:t>
            </a:r>
            <a:endParaRPr sz="21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00" y="2676525"/>
            <a:ext cx="54881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Represent</a:t>
            </a:r>
            <a:endParaRPr sz="13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4000" y="2933700"/>
            <a:ext cx="42767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Represent signed integers cleanly in an 8-bit sign-magnitude binary format.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29450" y="2676525"/>
            <a:ext cx="5162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Encode</a:t>
            </a:r>
            <a:endParaRPr sz="13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29450" y="2933700"/>
            <a:ext cx="4219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Isolate and split the MSB sign indicator from the seven numerical magnitude bits.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81150" y="4143375"/>
            <a:ext cx="541317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Decode</a:t>
            </a:r>
            <a:endParaRPr sz="13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150" y="4400550"/>
            <a:ext cx="4219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Accurately recover the signed integer value from its stored binary representation.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38975" y="4143375"/>
            <a:ext cx="5153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Simulate &amp; Validate</a:t>
            </a:r>
            <a:endParaRPr sz="13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8975" y="4400550"/>
            <a:ext cx="4210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Build the system architecture using digital logic subsystems and verify visual display.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05050"/>
            <a:ext cx="106680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11480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411480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0125" y="2847975"/>
            <a:ext cx="1254918" cy="800100"/>
          </a:xfrm>
          <a:prstGeom prst="roundRect">
            <a:avLst>
              <a:gd name="adj" fmla="val 952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07443" y="2847975"/>
            <a:ext cx="8784431" cy="800100"/>
          </a:xfrm>
          <a:prstGeom prst="roundRect">
            <a:avLst>
              <a:gd name="adj" fmla="val 952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04. Architecture Specification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5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8-Bit Sign-Magnitude Structure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125" y="2563495"/>
            <a:ext cx="11191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BIT ALLOCATION MAP</a:t>
            </a:r>
            <a:endParaRPr sz="12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7560" y="2962275"/>
            <a:ext cx="134004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Bit 7 (MSB)</a:t>
            </a:r>
            <a:r>
              <a:t>
</a:t>
            </a:r>
            <a:r>
              <a:rPr sz="900" b="0" i="0" u="none">
                <a:solidFill>
                  <a:srgbClr val="FFFFFF"/>
                </a:solidFill>
                <a:latin typeface="Inter"/>
              </a:rPr>
              <a:t>Sign Bit: 0=(+), 1=(−)</a:t>
            </a:r>
            <a:endParaRPr sz="900" b="0" i="0" u="non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2025" y="4314825"/>
            <a:ext cx="63257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Positive Example (+90)</a:t>
            </a:r>
            <a:endParaRPr sz="112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2025" y="4572000"/>
            <a:ext cx="60245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monospace"/>
              </a:rPr>
              <a:t>0 1011010</a:t>
            </a:r>
            <a:endParaRPr sz="1650" b="1" i="0" u="none">
              <a:solidFill>
                <a:srgbClr val="0284C7"/>
              </a:solidFill>
              <a:latin typeface="monospac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025" y="4848225"/>
            <a:ext cx="6024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MSB = 0  |  Magnitude = 90</a:t>
            </a:r>
            <a:endParaRPr sz="975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0325" y="4314825"/>
            <a:ext cx="5781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Negative Example (−90)</a:t>
            </a:r>
            <a:endParaRPr sz="112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0325" y="4572000"/>
            <a:ext cx="5781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monospace"/>
              </a:rPr>
              <a:t>1 1011010</a:t>
            </a:r>
            <a:endParaRPr sz="1650" b="1" i="0" u="none">
              <a:solidFill>
                <a:srgbClr val="DC2626"/>
              </a:solidFill>
              <a:latin typeface="monospac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0325" y="4848225"/>
            <a:ext cx="57816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MSB = 1  |  Magnitude = 90</a:t>
            </a:r>
            <a:endParaRPr sz="975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78868" y="3057525"/>
            <a:ext cx="5479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6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42728" y="3057525"/>
            <a:ext cx="5479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5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35799" y="3057525"/>
            <a:ext cx="55542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4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35675" y="3057525"/>
            <a:ext cx="5479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3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83660" y="3057525"/>
            <a:ext cx="54798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2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71980" y="3057525"/>
            <a:ext cx="52551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1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81948" y="3057525"/>
            <a:ext cx="55542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Bit 0</a:t>
            </a:r>
            <a:endParaRPr sz="12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19391" y="3453447"/>
            <a:ext cx="84102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75569"/>
                </a:solidFill>
                <a:latin typeface="Inter"/>
              </a:rPr>
              <a:t>Absolute Numerical Magnitude (0 to 127)</a:t>
            </a:r>
            <a:endParaRPr sz="90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32769"/>
            <a:ext cx="5181600" cy="2240160"/>
          </a:xfrm>
          <a:prstGeom prst="roundRect">
            <a:avLst>
              <a:gd name="adj" fmla="val 51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82304"/>
            <a:ext cx="5181600" cy="2541091"/>
          </a:xfrm>
          <a:prstGeom prst="roundRect">
            <a:avLst>
              <a:gd name="adj" fmla="val 4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4061370"/>
            <a:ext cx="455295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325" y="3968055"/>
            <a:ext cx="22002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3968055"/>
            <a:ext cx="22002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0" y="4242345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05. Working Principle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6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Encoding &amp; Decoding Logic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6325" y="2947094"/>
            <a:ext cx="597574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Positive vs. Negative Encoding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6325" y="3289994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7-bit magnitude field remains completely identical between +N and −N. Only the single MSB sign bit flips state.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2725" y="2796629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Subsystem Decoding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2725" y="3139529"/>
            <a:ext cx="46482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system decoder routes Bit 7 directly to a sign indicator LED while feeding Bits 0–6 to magnitude numerical display drivers.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28725" y="4082355"/>
            <a:ext cx="1990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+5 Decimal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0284C7"/>
                </a:solidFill>
                <a:latin typeface="Inter"/>
              </a:rPr>
              <a:t>0 0000101</a:t>
            </a:r>
            <a:endParaRPr sz="1200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1400" y="4082355"/>
            <a:ext cx="1990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−5 Decimal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DC2626"/>
                </a:solidFill>
                <a:latin typeface="Inter"/>
              </a:rPr>
              <a:t>1 0000101</a:t>
            </a:r>
            <a:endParaRPr sz="1200" b="1" i="0" u="none">
              <a:solidFill>
                <a:srgbClr val="DC2626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4650" y="4223295"/>
            <a:ext cx="4324350" cy="3238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Direct bus separation enables immediate parallel processing of sign metadata and numeric data.</a:t>
            </a:r>
            <a:endParaRPr sz="1050" b="0" i="0" u="none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57512"/>
            <a:ext cx="25241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2957512"/>
            <a:ext cx="25241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57512"/>
            <a:ext cx="25241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2957512"/>
            <a:ext cx="25241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362" y="319563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987" y="319563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612" y="3195637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1237" y="3195637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3348037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75" y="334803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012" y="334803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350" y="3348037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06. System Architecture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7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High-Level Hardware Pipeline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0144" y="3881437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Signed Input</a:t>
            </a:r>
            <a:endParaRPr sz="127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4140" y="4148137"/>
            <a:ext cx="2559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Decimal value entry point</a:t>
            </a:r>
            <a:endParaRPr sz="10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94769" y="3881437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Splitter Unit</a:t>
            </a:r>
            <a:endParaRPr sz="127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8765" y="4148137"/>
            <a:ext cx="2559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Separates MSB &amp; magnitude</a:t>
            </a:r>
            <a:endParaRPr sz="10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09394" y="3881437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Logic Subsystem</a:t>
            </a:r>
            <a:endParaRPr sz="127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3390" y="4148137"/>
            <a:ext cx="2559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Processes gate paths</a:t>
            </a:r>
            <a:endParaRPr sz="10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24019" y="3881437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Display Output</a:t>
            </a:r>
            <a:endParaRPr sz="1275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88015" y="4148137"/>
            <a:ext cx="2559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Visual signal verification</a:t>
            </a:r>
            <a:endParaRPr sz="105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33512"/>
            <a:ext cx="10668000" cy="4514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595437"/>
            <a:ext cx="1034415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0763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07. LOGIC SIMULATION DIAGRAM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8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8001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Logisim Gate-Level Circuit Implementation</a:t>
            </a:r>
            <a:endParaRPr sz="2400" b="1" i="0" u="none">
              <a:solidFill>
                <a:srgbClr val="0F172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90725"/>
            <a:ext cx="10668000" cy="34004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990725"/>
          <a:ext cx="10658472" cy="3400425"/>
        </p:xfrm>
        <a:graphic>
          <a:graphicData uri="http://schemas.openxmlformats.org/drawingml/2006/table">
            <a:tbl>
              <a:tblPr/>
              <a:tblGrid>
                <a:gridCol w="1169044"/>
                <a:gridCol w="1153864"/>
                <a:gridCol w="1169044"/>
                <a:gridCol w="3324969"/>
                <a:gridCol w="3841551"/>
              </a:tblGrid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Input A</a:t>
                      </a:r>
                      <a:endParaRPr sz="1125" b="1" i="0" u="none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Input B</a:t>
                      </a:r>
                      <a:endParaRPr sz="1125" b="1" i="0" u="none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Input C</a:t>
                      </a:r>
                      <a:endParaRPr sz="1125" b="1" i="0" u="none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Output Y = (A · B) + (B · C)</a:t>
                      </a:r>
                      <a:endParaRPr sz="1125" b="1" i="0" u="none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Output Z = (A · B' · C') + (A · C)</a:t>
                      </a:r>
                      <a:endParaRPr sz="1125" b="1" i="0" u="none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69A1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0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0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284C7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369A1"/>
                          </a:solidFill>
                          <a:latin typeface="monospace"/>
                        </a:rPr>
                        <a:t>1</a:t>
                      </a:r>
                      <a:endParaRPr sz="1125" b="1" i="0" u="none">
                        <a:solidFill>
                          <a:srgbClr val="0369A1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71500"/>
            <a:ext cx="10763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08. LOGIC GATES TRUTH TABLE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9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8001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Combinational Circuit Truth Table (Outputs Y &amp; Z)</a:t>
            </a:r>
            <a:endParaRPr sz="2400" b="1" i="0" u="none">
              <a:solidFill>
                <a:srgbClr val="0F172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32769"/>
            <a:ext cx="5181600" cy="2240160"/>
          </a:xfrm>
          <a:prstGeom prst="roundRect">
            <a:avLst>
              <a:gd name="adj" fmla="val 51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04194"/>
            <a:ext cx="5181600" cy="2297310"/>
          </a:xfrm>
          <a:prstGeom prst="roundRect">
            <a:avLst>
              <a:gd name="adj" fmla="val 49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3939480"/>
            <a:ext cx="455295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325" y="3968055"/>
            <a:ext cx="22002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3968055"/>
            <a:ext cx="22002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0" y="4120455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076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09. Critical Analysis</a:t>
            </a:r>
            <a:endParaRPr sz="97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905000" y="6134100"/>
            <a:ext cx="1333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F172A"/>
                </a:solidFill>
                <a:latin typeface="Inter"/>
              </a:rPr>
              <a:t>Slide 10</a:t>
            </a:r>
            <a:endParaRPr sz="975" b="0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838200"/>
            <a:ext cx="1143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Limitations of Sign-Magnitude</a:t>
            </a:r>
            <a:endParaRPr sz="27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6325" y="2947094"/>
            <a:ext cx="597574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Dual Representation of Zero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6325" y="3289994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Creates redundant binary representation states, wasting computational state space.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2725" y="2918519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Arithmetic Hardware Complexity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2725" y="3261419"/>
            <a:ext cx="46482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Addition and subtraction require comparing sign bits before processing, leading to additional logic gate overhead.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28725" y="4082355"/>
            <a:ext cx="1990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+0 Positive Zero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125" b="1" i="0" u="none">
                <a:solidFill>
                  <a:srgbClr val="0284C7"/>
                </a:solidFill>
                <a:latin typeface="Inter"/>
              </a:rPr>
              <a:t>0 0000000</a:t>
            </a:r>
            <a:endParaRPr sz="1125" b="1" i="0" u="none">
              <a:solidFill>
                <a:srgbClr val="0284C7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1400" y="4082355"/>
            <a:ext cx="19907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−0 Negative Zero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125" b="1" i="0" u="none">
                <a:solidFill>
                  <a:srgbClr val="DC2626"/>
                </a:solidFill>
                <a:latin typeface="Inter"/>
              </a:rPr>
              <a:t>1 0000000</a:t>
            </a:r>
            <a:endParaRPr sz="1125" b="1" i="0" u="none">
              <a:solidFill>
                <a:srgbClr val="DC2626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4650" y="4101405"/>
            <a:ext cx="4324350" cy="3238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Impact: Increased circuit propagation delay and higher gate count for ALU design.</a:t>
            </a:r>
            <a:endParaRPr sz="1050" b="0" i="0" u="none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86425"/>
            <a:ext cx="10668000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00312"/>
            <a:ext cx="2524125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6625" y="2500312"/>
            <a:ext cx="2524125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500312"/>
            <a:ext cx="2524125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5875" y="2500312"/>
            <a:ext cx="2524125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6864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21074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10. KEY TAKEAWAYS</a:t>
            </a:r>
            <a:endParaRPr sz="105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9825" y="609600"/>
            <a:ext cx="1750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Results &amp; Verification</a:t>
            </a:r>
            <a:endParaRPr sz="1050" b="1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2728912"/>
            <a:ext cx="21621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100%</a:t>
            </a:r>
            <a:endParaRPr sz="240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5225" y="2728912"/>
            <a:ext cx="21621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±127</a:t>
            </a:r>
            <a:endParaRPr sz="240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850" y="2728912"/>
            <a:ext cx="21621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Realtime</a:t>
            </a:r>
            <a:endParaRPr sz="240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34475" y="2728912"/>
            <a:ext cx="21621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Modular</a:t>
            </a:r>
            <a:endParaRPr sz="240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924550"/>
            <a:ext cx="21502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THANK YOU</a:t>
            </a:r>
            <a:endParaRPr sz="21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10900" y="6010275"/>
            <a:ext cx="7048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Slide 11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0125" y="3186112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Accurate Processing</a:t>
            </a:r>
            <a:endParaRPr sz="12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0125" y="3414712"/>
            <a:ext cx="2143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Validated sign-magnitude conversion.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14750" y="3186112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Full Dynamic Range</a:t>
            </a:r>
            <a:endParaRPr sz="12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14750" y="3414712"/>
            <a:ext cx="2143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Supports integers from −127 to +127.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29375" y="3186112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Visual Output</a:t>
            </a:r>
            <a:endParaRPr sz="12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9375" y="3414712"/>
            <a:ext cx="2143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Immediate display response in simulation.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0" y="3186112"/>
            <a:ext cx="26878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Logic Design</a:t>
            </a:r>
            <a:endParaRPr sz="12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0" y="3414712"/>
            <a:ext cx="2143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Clean subsystem design architecture.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3752</Words>
  <Application>WPS Presentation</Application>
  <PresentationFormat>On-screen Show (4:3)</PresentationFormat>
  <Paragraphs>326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Inter</vt:lpstr>
      <vt:lpstr>Segoe Print</vt:lpstr>
      <vt:lpstr>monospace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santh</cp:lastModifiedBy>
  <cp:revision>2</cp:revision>
  <dcterms:created xsi:type="dcterms:W3CDTF">2013-01-27T09:14:00Z</dcterms:created>
  <dcterms:modified xsi:type="dcterms:W3CDTF">2026-10-15T07:31:20Z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A79B2DD102614271BD06F96FEFAED96B_12</vt:lpwstr>
  </property>
</Properties>
</file>